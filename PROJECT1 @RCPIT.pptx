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sldIdLst>
    <p:sldId id="279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8" r:id="rId10"/>
    <p:sldId id="269" r:id="rId11"/>
    <p:sldId id="270" r:id="rId12"/>
    <p:sldId id="276" r:id="rId13"/>
    <p:sldId id="275" r:id="rId14"/>
    <p:sldId id="272" r:id="rId15"/>
    <p:sldId id="274" r:id="rId1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5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0D6F-2E97-4058-9836-8441610350C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D06A5-5C97-424D-B2C7-FC2ADC0B896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1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14C0-00C7-42D1-B929-A8CD059A0E1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E9A3F-99E1-48CF-A24D-4ECC0C7E2641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09E32-6793-41FC-9E5E-100918CA873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C1FD-2E4A-4290-945E-1A0F320F0341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1B8EC-DC03-487B-88AE-745616B10F0A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BDCE5-4C63-43F1-BFD4-C6DE127F09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0FE6-B2A5-44F1-A547-2043A818B99B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04995-CF8B-436F-8ED5-B82BF0E4F13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0B6DA-705B-46F4-B2D6-7C2607924FC2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3E33-7D60-48AB-9956-700618387EBF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0FF67-FE36-4E6C-A5C7-6857B0E58D3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4A18A-E377-4B83-B485-D271B2550C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Projec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79787" y="63793"/>
            <a:ext cx="12109120" cy="2913016"/>
          </a:xfrm>
        </p:spPr>
        <p:txBody>
          <a:bodyPr>
            <a:normAutofit fontScale="90000"/>
          </a:bodyPr>
          <a:lstStyle/>
          <a:p>
            <a:pPr lvl="0" indent="457200" algn="ctr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br>
              <a:rPr lang="en-US" sz="2800" b="1" dirty="0">
                <a:solidFill>
                  <a:srgbClr val="C00000"/>
                </a:solidFill>
                <a:latin typeface="Cambria" panose="020405030504060302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 Project – I</a:t>
            </a: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4000" b="1" dirty="0">
                <a:solidFill>
                  <a:srgbClr val="C00000"/>
                </a:solidFill>
                <a:latin typeface="Cambria" panose="02040503050406030204" pitchFamily="18" charset="0"/>
              </a:rPr>
              <a:t>     “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RCPIT</a:t>
            </a:r>
            <a:r>
              <a:rPr lang="en-US" sz="4000" b="1" dirty="0">
                <a:solidFill>
                  <a:srgbClr val="C00000"/>
                </a:solidFill>
                <a:latin typeface="Cambria" panose="02040503050406030204" pitchFamily="18" charset="0"/>
              </a:rPr>
              <a:t> College Query Chatbot”</a:t>
            </a:r>
            <a:br>
              <a:rPr lang="en-US" sz="40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Soham Kailas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Borole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(PRN: 25110815 &amp; Roll No:14)</a:t>
            </a:r>
            <a:b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Shubham Rajendra Kumavat (PRN : 25110825 &amp; Roll No. : 22)</a:t>
            </a:r>
            <a:b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Jidnyesha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Bharat Patil (PRN : 251108041 &amp; Roll No: 38)</a:t>
            </a:r>
            <a:b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Sneha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Manoj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Barade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(PRN: 25110857 &amp; Roll No: 50)</a:t>
            </a:r>
            <a:b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br>
              <a:rPr lang="en-US" sz="1800" dirty="0"/>
            </a:b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sz="1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Prathmesh</a:t>
            </a: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Mahajan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7" y="5504613"/>
            <a:ext cx="11662756" cy="1345716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Department of Artificial Intelligence and Data Science</a:t>
            </a:r>
            <a:endParaRPr lang="en-US" sz="1900" b="1" dirty="0">
              <a:solidFill>
                <a:srgbClr val="993300"/>
              </a:solidFill>
              <a:latin typeface="Ajile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Education Society’s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- 425405.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[2026-27]</a:t>
            </a:r>
            <a:r>
              <a:rPr lang="en-US" sz="1900" b="1" dirty="0">
                <a:solidFill>
                  <a:srgbClr val="00008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lang="en-US" sz="1900" dirty="0">
              <a:latin typeface="Arial" panose="020B0604020202020204" pitchFamily="34" charset="0"/>
            </a:endParaRPr>
          </a:p>
        </p:txBody>
      </p:sp>
      <p:pic>
        <p:nvPicPr>
          <p:cNvPr id="4" name="Picture 1" descr="SE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68" y="3689672"/>
            <a:ext cx="2136647" cy="186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pPr/>
              <a:t>1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A77CDB-1200-4444-8C54-1B28E9F446F1}"/>
              </a:ext>
            </a:extLst>
          </p:cNvPr>
          <p:cNvCxnSpPr/>
          <p:nvPr/>
        </p:nvCxnSpPr>
        <p:spPr>
          <a:xfrm>
            <a:off x="2691517" y="1167490"/>
            <a:ext cx="637630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08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3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1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03219" y="1309122"/>
            <a:ext cx="406393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Team 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2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A6DB31-0020-46F2-BF7D-94833A35F3EE}"/>
              </a:ext>
            </a:extLst>
          </p:cNvPr>
          <p:cNvCxnSpPr>
            <a:cxnSpLocks/>
          </p:cNvCxnSpPr>
          <p:nvPr/>
        </p:nvCxnSpPr>
        <p:spPr>
          <a:xfrm>
            <a:off x="1503219" y="1053190"/>
            <a:ext cx="186415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199" y="1648671"/>
            <a:ext cx="11465379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RCPIT College Query Chatbot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0" indent="0">
              <a:buNone/>
            </a:pPr>
            <a:b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38200" y="569010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5C493-C1EF-4139-AD1F-963B1940B98A}"/>
              </a:ext>
            </a:extLst>
          </p:cNvPr>
          <p:cNvSpPr txBox="1"/>
          <p:nvPr/>
        </p:nvSpPr>
        <p:spPr>
          <a:xfrm>
            <a:off x="907595" y="3069223"/>
            <a:ext cx="73046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Shubham Rajendra Kumavat (Roll No: 22)</a:t>
            </a:r>
          </a:p>
          <a:p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Jidnyesha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Bharat Patil ( Roll No: 38)</a:t>
            </a:r>
            <a:b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Sneha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Manoj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Barade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 Roll No: 50)</a:t>
            </a:r>
            <a:b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Soham Kailas </a:t>
            </a:r>
            <a:r>
              <a:rPr lang="en-US" sz="22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Borole</a:t>
            </a:r>
            <a:r>
              <a:rPr lang="en-US" sz="2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(Roll No:14)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Department: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Artificial Intelligence &amp; Data Science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Class: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SY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B.Tech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– AIDS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Academic Year: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2026–27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E789AD-5D78-481E-AAD3-1CD09F4B6025}"/>
              </a:ext>
            </a:extLst>
          </p:cNvPr>
          <p:cNvSpPr txBox="1"/>
          <p:nvPr/>
        </p:nvSpPr>
        <p:spPr>
          <a:xfrm>
            <a:off x="1240971" y="452180"/>
            <a:ext cx="8988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Team Introduction: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9C249C-FF20-42DD-82A7-41EC0A76A201}"/>
              </a:ext>
            </a:extLst>
          </p:cNvPr>
          <p:cNvCxnSpPr/>
          <p:nvPr/>
        </p:nvCxnSpPr>
        <p:spPr>
          <a:xfrm>
            <a:off x="1370610" y="1098511"/>
            <a:ext cx="68416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Chatbots : </a:t>
            </a:r>
          </a:p>
          <a:p>
            <a:pPr>
              <a:lnSpc>
                <a:spcPct val="105000"/>
              </a:lnSpc>
              <a:spcAft>
                <a:spcPts val="500"/>
              </a:spcAft>
              <a:buFont typeface="Wingdings" panose="05000000000000000000" pitchFamily="2" charset="2"/>
              <a:buChar char="Ø"/>
              <a:defRPr sz="1550">
                <a:solidFill>
                  <a:srgbClr val="202D3A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enables systems to perform intelligent tasks.</a:t>
            </a:r>
          </a:p>
          <a:p>
            <a:pPr>
              <a:lnSpc>
                <a:spcPct val="105000"/>
              </a:lnSpc>
              <a:spcAft>
                <a:spcPts val="500"/>
              </a:spcAft>
              <a:buFont typeface="Wingdings" panose="05000000000000000000" pitchFamily="2" charset="2"/>
              <a:buChar char="Ø"/>
              <a:defRPr sz="1550">
                <a:solidFill>
                  <a:srgbClr val="202D3A"/>
                </a:solidFill>
                <a:latin typeface="Aptos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Chatbots interact with users through questions and answers.</a:t>
            </a:r>
          </a:p>
          <a:p>
            <a:pPr>
              <a:lnSpc>
                <a:spcPct val="105000"/>
              </a:lnSpc>
              <a:spcAft>
                <a:spcPts val="500"/>
              </a:spcAft>
              <a:buFont typeface="Wingdings" panose="05000000000000000000" pitchFamily="2" charset="2"/>
              <a:buChar char="Ø"/>
              <a:defRPr sz="1550">
                <a:solidFill>
                  <a:srgbClr val="202D3A"/>
                </a:solidFill>
                <a:latin typeface="Aptos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 helps systems understand human-language queries.</a:t>
            </a:r>
          </a:p>
          <a:p>
            <a:pPr>
              <a:lnSpc>
                <a:spcPct val="105000"/>
              </a:lnSpc>
              <a:spcAft>
                <a:spcPts val="500"/>
              </a:spcAft>
              <a:buFont typeface="Wingdings" panose="05000000000000000000" pitchFamily="2" charset="2"/>
              <a:buChar char="Ø"/>
              <a:defRPr sz="1550">
                <a:solidFill>
                  <a:srgbClr val="202D3A"/>
                </a:solidFill>
                <a:latin typeface="Aptos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Chatbots can provide quick responses to common questions.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buFont typeface="Wingdings" panose="05000000000000000000" pitchFamily="2" charset="2"/>
              <a:buChar char="Ø"/>
              <a:defRPr sz="1550">
                <a:solidFill>
                  <a:srgbClr val="202D3A"/>
                </a:solidFill>
                <a:latin typeface="Aptos"/>
              </a:defRPr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Our project applies this idea to RCPIT-specific information.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4</a:t>
            </a:fld>
            <a:endParaRPr lang="en-US"/>
          </a:p>
        </p:txBody>
      </p:sp>
      <p:sp>
        <p:nvSpPr>
          <p:cNvPr id="11" name="Rounded Rectangle 24"/>
          <p:cNvSpPr/>
          <p:nvPr/>
        </p:nvSpPr>
        <p:spPr>
          <a:xfrm>
            <a:off x="723900" y="4776349"/>
            <a:ext cx="1074420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>
                <a:solidFill>
                  <a:srgbClr val="1087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QUERY:</a:t>
            </a:r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What are the available </a:t>
            </a:r>
            <a:r>
              <a:rPr lang="en-US" sz="1600" b="1" dirty="0" err="1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courses?</a:t>
            </a:r>
          </a:p>
          <a:p>
            <a:r>
              <a:rPr lang="en-IN" sz="1600" b="1" dirty="0">
                <a:solidFill>
                  <a:srgbClr val="1087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RESPONSE:</a:t>
            </a:r>
            <a:r>
              <a:rPr lang="en-US" sz="16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RCPIT offers </a:t>
            </a:r>
            <a:r>
              <a:rPr lang="en-US" sz="1600" dirty="0" err="1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6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programs across multiple engineering disciplines.</a:t>
            </a:r>
          </a:p>
          <a:p>
            <a:endParaRPr lang="en-IN" sz="1600" b="1" dirty="0">
              <a:solidFill>
                <a:srgbClr val="1087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8114" y="1578091"/>
            <a:ext cx="3559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AREAS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61019" y="2186164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6043" y="2186164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</p:txBody>
      </p:sp>
      <p:sp>
        <p:nvSpPr>
          <p:cNvPr id="15" name="Rounded Rectangle 23"/>
          <p:cNvSpPr/>
          <p:nvPr/>
        </p:nvSpPr>
        <p:spPr>
          <a:xfrm>
            <a:off x="9982200" y="4119175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 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92639" y="2768604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Hostel</a:t>
            </a:r>
          </a:p>
        </p:txBody>
      </p:sp>
      <p:sp>
        <p:nvSpPr>
          <p:cNvPr id="18" name="Rounded Rectangle 15"/>
          <p:cNvSpPr/>
          <p:nvPr/>
        </p:nvSpPr>
        <p:spPr>
          <a:xfrm>
            <a:off x="6761019" y="2768604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21" name="Rounded Rectangle 19"/>
          <p:cNvSpPr/>
          <p:nvPr/>
        </p:nvSpPr>
        <p:spPr>
          <a:xfrm>
            <a:off x="9823219" y="2803390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Info</a:t>
            </a:r>
          </a:p>
        </p:txBody>
      </p:sp>
      <p:sp>
        <p:nvSpPr>
          <p:cNvPr id="31" name="Rounded Rectangle 20"/>
          <p:cNvSpPr/>
          <p:nvPr/>
        </p:nvSpPr>
        <p:spPr>
          <a:xfrm>
            <a:off x="8352349" y="4141772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</p:txBody>
      </p:sp>
      <p:sp>
        <p:nvSpPr>
          <p:cNvPr id="32" name="Rounded Rectangle 17"/>
          <p:cNvSpPr/>
          <p:nvPr/>
        </p:nvSpPr>
        <p:spPr>
          <a:xfrm>
            <a:off x="6837303" y="4150538"/>
            <a:ext cx="1296072" cy="34589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Facilities</a:t>
            </a:r>
          </a:p>
        </p:txBody>
      </p:sp>
      <p:sp>
        <p:nvSpPr>
          <p:cNvPr id="3" name="Rounded Rectangle 18"/>
          <p:cNvSpPr/>
          <p:nvPr/>
        </p:nvSpPr>
        <p:spPr>
          <a:xfrm>
            <a:off x="6793003" y="3481257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</a:t>
            </a:r>
          </a:p>
        </p:txBody>
      </p:sp>
      <p:sp>
        <p:nvSpPr>
          <p:cNvPr id="16" name="Rounded Rectangle 22"/>
          <p:cNvSpPr/>
          <p:nvPr/>
        </p:nvSpPr>
        <p:spPr>
          <a:xfrm>
            <a:off x="9823219" y="3489145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p:sp>
        <p:nvSpPr>
          <p:cNvPr id="26" name="Rounded Rectangle 21"/>
          <p:cNvSpPr/>
          <p:nvPr/>
        </p:nvSpPr>
        <p:spPr>
          <a:xfrm>
            <a:off x="8292639" y="3526277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FAQs</a:t>
            </a:r>
          </a:p>
        </p:txBody>
      </p:sp>
      <p:sp>
        <p:nvSpPr>
          <p:cNvPr id="27" name="Rounded Rectangle 14"/>
          <p:cNvSpPr/>
          <p:nvPr/>
        </p:nvSpPr>
        <p:spPr>
          <a:xfrm>
            <a:off x="9823219" y="2223189"/>
            <a:ext cx="1417320" cy="420624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Fees &amp; Scholarships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CAEDDC-A548-47A6-8E52-DF1C73A9770C}"/>
              </a:ext>
            </a:extLst>
          </p:cNvPr>
          <p:cNvSpPr txBox="1"/>
          <p:nvPr/>
        </p:nvSpPr>
        <p:spPr>
          <a:xfrm>
            <a:off x="1250524" y="365431"/>
            <a:ext cx="5037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  <a:r>
              <a:rPr lang="en-IN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E1E7A1-F35E-4CE9-A74E-4B783703FA2D}"/>
              </a:ext>
            </a:extLst>
          </p:cNvPr>
          <p:cNvCxnSpPr>
            <a:cxnSpLocks/>
          </p:cNvCxnSpPr>
          <p:nvPr/>
        </p:nvCxnSpPr>
        <p:spPr>
          <a:xfrm flipV="1">
            <a:off x="1250524" y="1011762"/>
            <a:ext cx="3950126" cy="258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7"/>
          <p:cNvSpPr/>
          <p:nvPr/>
        </p:nvSpPr>
        <p:spPr>
          <a:xfrm>
            <a:off x="588476" y="5045405"/>
            <a:ext cx="7252242" cy="814168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visitors may need to search different sources or contact different departments to obtain college-related information.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5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45471" y="264417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DIFFICULTIES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25" y="3036398"/>
            <a:ext cx="912689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distributed across different sources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specific information can take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search multiple pages or documents.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queries may depend on staff availability.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conversational interface covers many college topics.</a:t>
            </a:r>
          </a:p>
          <a:p>
            <a:pPr algn="l"/>
            <a:endParaRPr lang="en-US" sz="20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Provide quick, simple and centralized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 to RCPIT college information through a chatbot interface.</a:t>
            </a:r>
            <a:endParaRPr lang="en-US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5479" y="2425688"/>
            <a:ext cx="1828800" cy="384048"/>
          </a:xfrm>
          <a:prstGeom prst="roundRect">
            <a:avLst/>
          </a:prstGeom>
          <a:solidFill>
            <a:srgbClr val="C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1019" y="285877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→ Website → Pages
→ Documents →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5479" y="3636295"/>
            <a:ext cx="1828800" cy="384048"/>
          </a:xfrm>
          <a:prstGeom prst="roundRect">
            <a:avLst/>
          </a:prstGeom>
          <a:solidFill>
            <a:srgbClr val="2D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PROPOSED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9269" y="417826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→</a:t>
            </a:r>
          </a:p>
          <a:p>
            <a:pPr algn="ctr"/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RCPIT College Query </a:t>
            </a:r>
            <a:r>
              <a:rPr lang="en-US" sz="1600" b="1" dirty="0" err="1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→ Relevant Information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19611-C0E7-4265-9D98-89CFAF2D9F81}"/>
              </a:ext>
            </a:extLst>
          </p:cNvPr>
          <p:cNvSpPr txBox="1"/>
          <p:nvPr/>
        </p:nvSpPr>
        <p:spPr>
          <a:xfrm>
            <a:off x="1193373" y="443477"/>
            <a:ext cx="5094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87E45D-846E-43E5-8DF5-91F380E6E576}"/>
              </a:ext>
            </a:extLst>
          </p:cNvPr>
          <p:cNvCxnSpPr>
            <a:cxnSpLocks/>
          </p:cNvCxnSpPr>
          <p:nvPr/>
        </p:nvCxnSpPr>
        <p:spPr>
          <a:xfrm>
            <a:off x="1280803" y="1089808"/>
            <a:ext cx="397699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Parallelogram 6"/>
          <p:cNvSpPr/>
          <p:nvPr/>
        </p:nvSpPr>
        <p:spPr>
          <a:xfrm flipV="1">
            <a:off x="396586" y="-4055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504" y="1659800"/>
            <a:ext cx="12191695" cy="45596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" y="0"/>
            <a:ext cx="12191695" cy="91440"/>
          </a:xfrm>
          <a:prstGeom prst="rect">
            <a:avLst/>
          </a:prstGeom>
          <a:solidFill>
            <a:srgbClr val="EE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92" y="164592"/>
            <a:ext cx="584108" cy="566928"/>
          </a:xfrm>
          <a:prstGeom prst="rect">
            <a:avLst/>
          </a:prstGeom>
        </p:spPr>
      </p:pic>
      <p:sp>
        <p:nvSpPr>
          <p:cNvPr id="20" name="TextBox 9"/>
          <p:cNvSpPr txBox="1"/>
          <p:nvPr/>
        </p:nvSpPr>
        <p:spPr>
          <a:xfrm>
            <a:off x="1326032" y="1229976"/>
            <a:ext cx="98755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study of chatbot and question-answering approaches</a:t>
            </a:r>
          </a:p>
        </p:txBody>
      </p:sp>
      <p:sp>
        <p:nvSpPr>
          <p:cNvPr id="21" name="Rounded Rectangle 10"/>
          <p:cNvSpPr/>
          <p:nvPr/>
        </p:nvSpPr>
        <p:spPr>
          <a:xfrm>
            <a:off x="658520" y="1874519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520" y="1874519"/>
            <a:ext cx="73152" cy="9601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12"/>
          <p:cNvSpPr txBox="1"/>
          <p:nvPr/>
        </p:nvSpPr>
        <p:spPr>
          <a:xfrm>
            <a:off x="823111" y="1984248"/>
            <a:ext cx="30632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</a:p>
        </p:txBody>
      </p:sp>
      <p:sp>
        <p:nvSpPr>
          <p:cNvPr id="24" name="TextBox 13"/>
          <p:cNvSpPr txBox="1"/>
          <p:nvPr/>
        </p:nvSpPr>
        <p:spPr>
          <a:xfrm>
            <a:off x="823111" y="2350008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automated responses</a:t>
            </a:r>
          </a:p>
        </p:txBody>
      </p:sp>
      <p:sp>
        <p:nvSpPr>
          <p:cNvPr id="25" name="Rounded Rectangle 14"/>
          <p:cNvSpPr/>
          <p:nvPr/>
        </p:nvSpPr>
        <p:spPr>
          <a:xfrm>
            <a:off x="4354490" y="1844346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61840" y="1874519"/>
            <a:ext cx="73152" cy="960120"/>
          </a:xfrm>
          <a:prstGeom prst="rect">
            <a:avLst/>
          </a:prstGeom>
          <a:solidFill>
            <a:srgbClr val="1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16"/>
          <p:cNvSpPr txBox="1"/>
          <p:nvPr/>
        </p:nvSpPr>
        <p:spPr>
          <a:xfrm>
            <a:off x="4526431" y="1984248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Information Systems</a:t>
            </a:r>
          </a:p>
        </p:txBody>
      </p:sp>
      <p:sp>
        <p:nvSpPr>
          <p:cNvPr id="28" name="TextBox 17"/>
          <p:cNvSpPr txBox="1"/>
          <p:nvPr/>
        </p:nvSpPr>
        <p:spPr>
          <a:xfrm>
            <a:off x="4526431" y="2350008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student support</a:t>
            </a:r>
          </a:p>
        </p:txBody>
      </p:sp>
      <p:sp>
        <p:nvSpPr>
          <p:cNvPr id="29" name="Rounded Rectangle 18"/>
          <p:cNvSpPr/>
          <p:nvPr/>
        </p:nvSpPr>
        <p:spPr>
          <a:xfrm>
            <a:off x="8065160" y="1874519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065160" y="1874519"/>
            <a:ext cx="73152" cy="960120"/>
          </a:xfrm>
          <a:prstGeom prst="rect">
            <a:avLst/>
          </a:prstGeom>
          <a:solidFill>
            <a:srgbClr val="EE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1" name="TextBox 20"/>
          <p:cNvSpPr txBox="1"/>
          <p:nvPr/>
        </p:nvSpPr>
        <p:spPr>
          <a:xfrm>
            <a:off x="8229752" y="1984248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Student-Support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21"/>
          <p:cNvSpPr txBox="1"/>
          <p:nvPr/>
        </p:nvSpPr>
        <p:spPr>
          <a:xfrm>
            <a:off x="8229752" y="2350008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 and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ery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</a:t>
            </a:r>
          </a:p>
        </p:txBody>
      </p:sp>
      <p:sp>
        <p:nvSpPr>
          <p:cNvPr id="33" name="Rounded Rectangle 22"/>
          <p:cNvSpPr/>
          <p:nvPr/>
        </p:nvSpPr>
        <p:spPr>
          <a:xfrm>
            <a:off x="658520" y="30449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8520" y="3044952"/>
            <a:ext cx="73152" cy="96012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5" name="TextBox 24"/>
          <p:cNvSpPr txBox="1"/>
          <p:nvPr/>
        </p:nvSpPr>
        <p:spPr>
          <a:xfrm>
            <a:off x="823111" y="3154680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</p:txBody>
      </p:sp>
      <p:sp>
        <p:nvSpPr>
          <p:cNvPr id="36" name="TextBox 25"/>
          <p:cNvSpPr txBox="1"/>
          <p:nvPr/>
        </p:nvSpPr>
        <p:spPr>
          <a:xfrm>
            <a:off x="823111" y="3520440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query understanding</a:t>
            </a:r>
          </a:p>
        </p:txBody>
      </p:sp>
      <p:sp>
        <p:nvSpPr>
          <p:cNvPr id="37" name="Rounded Rectangle 26"/>
          <p:cNvSpPr/>
          <p:nvPr/>
        </p:nvSpPr>
        <p:spPr>
          <a:xfrm>
            <a:off x="4361840" y="30449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361840" y="3044952"/>
            <a:ext cx="73152" cy="960120"/>
          </a:xfrm>
          <a:prstGeom prst="rect">
            <a:avLst/>
          </a:prstGeom>
          <a:solidFill>
            <a:srgbClr val="108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TextBox 28"/>
          <p:cNvSpPr txBox="1"/>
          <p:nvPr/>
        </p:nvSpPr>
        <p:spPr>
          <a:xfrm>
            <a:off x="4526431" y="3154680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Answering</a:t>
            </a:r>
          </a:p>
        </p:txBody>
      </p:sp>
      <p:sp>
        <p:nvSpPr>
          <p:cNvPr id="40" name="TextBox 29"/>
          <p:cNvSpPr txBox="1"/>
          <p:nvPr/>
        </p:nvSpPr>
        <p:spPr>
          <a:xfrm>
            <a:off x="4526431" y="3520440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questions to useful answers</a:t>
            </a:r>
          </a:p>
        </p:txBody>
      </p:sp>
      <p:sp>
        <p:nvSpPr>
          <p:cNvPr id="41" name="Rounded Rectangle 30"/>
          <p:cNvSpPr/>
          <p:nvPr/>
        </p:nvSpPr>
        <p:spPr>
          <a:xfrm>
            <a:off x="8065160" y="3044952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65160" y="3044952"/>
            <a:ext cx="73152" cy="960120"/>
          </a:xfrm>
          <a:prstGeom prst="rect">
            <a:avLst/>
          </a:prstGeom>
          <a:solidFill>
            <a:srgbClr val="EE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3" name="TextBox 32"/>
          <p:cNvSpPr txBox="1"/>
          <p:nvPr/>
        </p:nvSpPr>
        <p:spPr>
          <a:xfrm>
            <a:off x="8229752" y="3154680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Bases</a:t>
            </a:r>
          </a:p>
        </p:txBody>
      </p:sp>
      <p:sp>
        <p:nvSpPr>
          <p:cNvPr id="44" name="TextBox 33"/>
          <p:cNvSpPr txBox="1"/>
          <p:nvPr/>
        </p:nvSpPr>
        <p:spPr>
          <a:xfrm>
            <a:off x="8229752" y="3520440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information storage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68B14-44AF-4385-B85F-0FE98DAD48F4}"/>
              </a:ext>
            </a:extLst>
          </p:cNvPr>
          <p:cNvSpPr txBox="1"/>
          <p:nvPr/>
        </p:nvSpPr>
        <p:spPr>
          <a:xfrm>
            <a:off x="1176950" y="245393"/>
            <a:ext cx="7078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2DC39E-913E-4B1E-A3E1-8993333BAF6B}"/>
              </a:ext>
            </a:extLst>
          </p:cNvPr>
          <p:cNvCxnSpPr>
            <a:cxnSpLocks/>
          </p:cNvCxnSpPr>
          <p:nvPr/>
        </p:nvCxnSpPr>
        <p:spPr>
          <a:xfrm flipV="1">
            <a:off x="1253839" y="876876"/>
            <a:ext cx="3677390" cy="1484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76950" y="69429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00050" y="133020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not always provide college-specific or verified information. A dedicated RCPIT Knowledge Base can organize frequently required information in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6950" y="3200437"/>
            <a:ext cx="2885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0899" y="3943139"/>
            <a:ext cx="6096000" cy="11900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202D3A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information improves accessibility.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202D3A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 supports natural-language questions.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>
                <a:solidFill>
                  <a:srgbClr val="202D3A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Domain-specific knowledge can improve relevance.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>
            <a:normAutofit/>
          </a:bodyPr>
          <a:lstStyle/>
          <a:p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 sz="1600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152" y="0"/>
            <a:ext cx="12191695" cy="91440"/>
          </a:xfrm>
          <a:prstGeom prst="rect">
            <a:avLst/>
          </a:prstGeom>
          <a:solidFill>
            <a:srgbClr val="EE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6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92" y="164592"/>
            <a:ext cx="584108" cy="56692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0192" y="1398651"/>
            <a:ext cx="2971800" cy="933069"/>
          </a:xfrm>
          <a:prstGeom prst="rect">
            <a:avLst/>
          </a:prstGeom>
          <a:solidFill>
            <a:srgbClr val="0D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992" y="1398651"/>
            <a:ext cx="1965960" cy="933069"/>
          </a:xfrm>
          <a:prstGeom prst="rect">
            <a:avLst/>
          </a:prstGeom>
          <a:solidFill>
            <a:srgbClr val="0D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Traditional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951" y="1398651"/>
            <a:ext cx="1965960" cy="933069"/>
          </a:xfrm>
          <a:prstGeom prst="rect">
            <a:avLst/>
          </a:prstGeom>
          <a:solidFill>
            <a:srgbClr val="0D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FAQ Chatbot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911" y="1417156"/>
            <a:ext cx="1965960" cy="937832"/>
          </a:xfrm>
          <a:prstGeom prst="rect">
            <a:avLst/>
          </a:prstGeom>
          <a:solidFill>
            <a:srgbClr val="0D25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600" b="1" dirty="0">
                <a:solidFill>
                  <a:srgbClr val="FFFFFF"/>
                </a:solidFill>
                <a:latin typeface="Aptos"/>
              </a:rPr>
              <a:t>General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871" y="1398651"/>
            <a:ext cx="2606040" cy="933069"/>
          </a:xfrm>
          <a:prstGeom prst="rect">
            <a:avLst/>
          </a:prstGeom>
          <a:solidFill>
            <a:srgbClr val="10878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RCPIT Chatbot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632" y="2331720"/>
            <a:ext cx="28803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 dirty="0">
                <a:solidFill>
                  <a:srgbClr val="202D3A"/>
                </a:solidFill>
                <a:latin typeface="Aptos"/>
              </a:rPr>
              <a:t>College-specific information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992" y="233172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952" y="233172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911" y="233172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Not guaranteed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871" y="2331720"/>
            <a:ext cx="260604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632" y="2880360"/>
            <a:ext cx="2880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Centralized RCPIT information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992" y="288036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952" y="288036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911" y="288036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871" y="2880360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632" y="3429000"/>
            <a:ext cx="28803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Admission / Fees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992" y="342900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Manual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952" y="342900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911" y="342900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Possible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871" y="3429000"/>
            <a:ext cx="260604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632" y="3977639"/>
            <a:ext cx="2880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Faculty / Placement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992" y="3977639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Manual search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952" y="3977639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911" y="3977639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Possible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871" y="3977639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632" y="4526280"/>
            <a:ext cx="28803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Navigation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992" y="452628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Manual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952" y="452628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911" y="452628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871" y="4526280"/>
            <a:ext cx="260604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Planned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632" y="5074920"/>
            <a:ext cx="2880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Natural-language questions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992" y="507492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952" y="507492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Limited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911" y="5074920"/>
            <a:ext cx="1965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871" y="5074920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Planned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632" y="5623560"/>
            <a:ext cx="28803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Information source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992" y="562356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Multiple sources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7952" y="562356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Predefined FAQs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911" y="5623560"/>
            <a:ext cx="196596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02D3A"/>
                </a:solidFill>
                <a:latin typeface="Aptos"/>
              </a:rPr>
              <a:t>General knowledge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871" y="5623560"/>
            <a:ext cx="2606040" cy="548640"/>
          </a:xfrm>
          <a:prstGeom prst="rect">
            <a:avLst/>
          </a:prstGeom>
          <a:solidFill>
            <a:srgbClr val="F5F8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0D253F"/>
                </a:solidFill>
                <a:latin typeface="Aptos"/>
              </a:rPr>
              <a:t>RCPIT Knowledge 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788C3-7825-4B43-87B3-66F9B976E201}"/>
              </a:ext>
            </a:extLst>
          </p:cNvPr>
          <p:cNvSpPr txBox="1"/>
          <p:nvPr/>
        </p:nvSpPr>
        <p:spPr>
          <a:xfrm>
            <a:off x="1221323" y="393499"/>
            <a:ext cx="4683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Analysis: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7E9F7D0-697C-42E6-B49F-A3E242938654}"/>
              </a:ext>
            </a:extLst>
          </p:cNvPr>
          <p:cNvCxnSpPr>
            <a:cxnSpLocks/>
          </p:cNvCxnSpPr>
          <p:nvPr/>
        </p:nvCxnSpPr>
        <p:spPr>
          <a:xfrm flipV="1">
            <a:off x="1327318" y="1016971"/>
            <a:ext cx="4485653" cy="3028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3438521" y="4395615"/>
            <a:ext cx="924170" cy="431627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-106528" y="10009"/>
            <a:ext cx="12191695" cy="91440"/>
          </a:xfrm>
          <a:prstGeom prst="rect">
            <a:avLst/>
          </a:prstGeom>
          <a:solidFill>
            <a:srgbClr val="EE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4420" y="340375"/>
            <a:ext cx="9692640" cy="126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Methodology:</a:t>
            </a:r>
          </a:p>
          <a:p>
            <a:pPr algn="l"/>
            <a:endParaRPr lang="en-US" sz="2000" b="1" dirty="0">
              <a:solidFill>
                <a:srgbClr val="0D25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Work Flow Diagram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828800"/>
            <a:ext cx="11430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1664208" y="2148840"/>
            <a:ext cx="118872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1828800"/>
            <a:ext cx="11430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2990088" y="2148840"/>
            <a:ext cx="118872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54680" y="1828800"/>
            <a:ext cx="11430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endParaRPr lang="en-US" b="1" dirty="0">
              <a:solidFill>
                <a:srgbClr val="0D25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</a:p>
        </p:txBody>
      </p:sp>
      <p:cxnSp>
        <p:nvCxnSpPr>
          <p:cNvPr id="25" name="Connector 15"/>
          <p:cNvCxnSpPr/>
          <p:nvPr/>
        </p:nvCxnSpPr>
        <p:spPr>
          <a:xfrm>
            <a:off x="4315968" y="2148840"/>
            <a:ext cx="118872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80560" y="1828800"/>
            <a:ext cx="1143000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</a:t>
            </a:r>
          </a:p>
        </p:txBody>
      </p:sp>
      <p:cxnSp>
        <p:nvCxnSpPr>
          <p:cNvPr id="27" name="Connector 17"/>
          <p:cNvCxnSpPr/>
          <p:nvPr/>
        </p:nvCxnSpPr>
        <p:spPr>
          <a:xfrm>
            <a:off x="5641848" y="2148840"/>
            <a:ext cx="118872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06440" y="1828800"/>
            <a:ext cx="1307592" cy="640080"/>
          </a:xfrm>
          <a:prstGeom prst="roundRect">
            <a:avLst/>
          </a:prstGeom>
          <a:solidFill>
            <a:srgbClr val="F5F8FB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</a:t>
            </a:r>
          </a:p>
        </p:txBody>
      </p:sp>
      <p:cxnSp>
        <p:nvCxnSpPr>
          <p:cNvPr id="29" name="Connector 19"/>
          <p:cNvCxnSpPr/>
          <p:nvPr/>
        </p:nvCxnSpPr>
        <p:spPr>
          <a:xfrm flipV="1">
            <a:off x="7114032" y="2148840"/>
            <a:ext cx="196596" cy="22864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0628" y="1840717"/>
            <a:ext cx="1586484" cy="640080"/>
          </a:xfrm>
          <a:prstGeom prst="roundRect">
            <a:avLst/>
          </a:prstGeom>
          <a:solidFill>
            <a:srgbClr val="E8F7F6"/>
          </a:solidFill>
          <a:ln>
            <a:solidFill>
              <a:srgbClr val="1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Search</a:t>
            </a:r>
          </a:p>
        </p:txBody>
      </p:sp>
      <p:cxnSp>
        <p:nvCxnSpPr>
          <p:cNvPr id="31" name="Connector 21"/>
          <p:cNvCxnSpPr/>
          <p:nvPr/>
        </p:nvCxnSpPr>
        <p:spPr>
          <a:xfrm>
            <a:off x="8385048" y="2148840"/>
            <a:ext cx="27432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10144" y="1851664"/>
            <a:ext cx="1484525" cy="640080"/>
          </a:xfrm>
          <a:prstGeom prst="roundRect">
            <a:avLst/>
          </a:prstGeom>
          <a:solidFill>
            <a:srgbClr val="E8F7F6"/>
          </a:solidFill>
          <a:ln>
            <a:solidFill>
              <a:srgbClr val="1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Information</a:t>
            </a:r>
          </a:p>
        </p:txBody>
      </p:sp>
      <p:cxnSp>
        <p:nvCxnSpPr>
          <p:cNvPr id="33" name="Connector 23"/>
          <p:cNvCxnSpPr/>
          <p:nvPr/>
        </p:nvCxnSpPr>
        <p:spPr>
          <a:xfrm>
            <a:off x="10588888" y="2206121"/>
            <a:ext cx="139788" cy="0"/>
          </a:xfrm>
          <a:prstGeom prst="line">
            <a:avLst/>
          </a:prstGeom>
          <a:ln w="21590">
            <a:solidFill>
              <a:srgbClr val="1A5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728676" y="1870587"/>
            <a:ext cx="1189289" cy="640080"/>
          </a:xfrm>
          <a:prstGeom prst="roundRect">
            <a:avLst/>
          </a:prstGeom>
          <a:solidFill>
            <a:srgbClr val="E8F7F6"/>
          </a:solidFill>
          <a:ln>
            <a:solidFill>
              <a:srgbClr val="108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95859" y="2792974"/>
            <a:ext cx="2019038" cy="478289"/>
          </a:xfrm>
          <a:prstGeom prst="roundRect">
            <a:avLst/>
          </a:prstGeom>
          <a:solidFill>
            <a:srgbClr val="E0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NLP —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3408935"/>
            <a:ext cx="1691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
understanding</a:t>
            </a:r>
          </a:p>
        </p:txBody>
      </p:sp>
      <p:cxnSp>
        <p:nvCxnSpPr>
          <p:cNvPr id="37" name="Connector 27"/>
          <p:cNvCxnSpPr/>
          <p:nvPr/>
        </p:nvCxnSpPr>
        <p:spPr>
          <a:xfrm flipV="1">
            <a:off x="6410259" y="2510667"/>
            <a:ext cx="0" cy="265176"/>
          </a:xfrm>
          <a:prstGeom prst="line">
            <a:avLst/>
          </a:prstGeom>
          <a:ln w="22860">
            <a:solidFill>
              <a:srgbClr val="E08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3744790"/>
            <a:ext cx="47548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Modules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588" y="4380768"/>
            <a:ext cx="1220724" cy="466747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Overview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73321" y="4395615"/>
            <a:ext cx="1496310" cy="44327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1580" y="4380769"/>
            <a:ext cx="1329140" cy="44327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Admission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63250" y="4410008"/>
            <a:ext cx="797693" cy="414039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3474" y="4410008"/>
            <a:ext cx="981614" cy="41403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41749" y="4410007"/>
            <a:ext cx="1221314" cy="405777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47619" y="4410007"/>
            <a:ext cx="1262525" cy="405777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74686" y="5081576"/>
            <a:ext cx="1143000" cy="437775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FAQs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2356" y="5052606"/>
            <a:ext cx="1220723" cy="466746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3321" y="5082030"/>
            <a:ext cx="1496310" cy="437322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38521" y="5067184"/>
            <a:ext cx="1367275" cy="452168"/>
          </a:xfrm>
          <a:prstGeom prst="roundRect">
            <a:avLst/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</a:p>
        </p:txBody>
      </p:sp>
      <p:sp>
        <p:nvSpPr>
          <p:cNvPr id="67" name="Parallelogram 6"/>
          <p:cNvSpPr/>
          <p:nvPr/>
        </p:nvSpPr>
        <p:spPr>
          <a:xfrm flipV="1">
            <a:off x="289907" y="6562253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CBC062-16ED-4673-8730-CC303A2584FC}"/>
              </a:ext>
            </a:extLst>
          </p:cNvPr>
          <p:cNvCxnSpPr/>
          <p:nvPr/>
        </p:nvCxnSpPr>
        <p:spPr>
          <a:xfrm>
            <a:off x="1176950" y="979715"/>
            <a:ext cx="46863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97C563-00EC-4706-A8CC-E3F7B4846B12}"/>
              </a:ext>
            </a:extLst>
          </p:cNvPr>
          <p:cNvSpPr/>
          <p:nvPr/>
        </p:nvSpPr>
        <p:spPr>
          <a:xfrm>
            <a:off x="6434448" y="1522945"/>
            <a:ext cx="5404757" cy="430102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B5E5F1-ED2B-417A-8F9C-801C067E8F58}"/>
              </a:ext>
            </a:extLst>
          </p:cNvPr>
          <p:cNvSpPr/>
          <p:nvPr/>
        </p:nvSpPr>
        <p:spPr>
          <a:xfrm>
            <a:off x="767442" y="1541986"/>
            <a:ext cx="5404757" cy="430102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Software</a:t>
            </a:r>
            <a:r>
              <a:rPr lang="en-IN" b="1" dirty="0">
                <a:solidFill>
                  <a:srgbClr val="1A5C96"/>
                </a:solidFill>
                <a:latin typeface="Aptos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Compatible OS          1 . </a:t>
            </a:r>
            <a:r>
              <a:rPr lang="en-IN" sz="20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 / Desktop Computer</a:t>
            </a:r>
            <a:endParaRPr lang="en-US" sz="2000" dirty="0">
              <a:solidFill>
                <a:srgbClr val="202D3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                                            2. Minimum 4 GB RAM recommended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                               3. Adequate storage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Framework: Flask                                        4. Standard display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                           5. Keyboard and mouse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— Planned                                     6. Internet connection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AI/NLP: Planned                                             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rgbClr val="202D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Git/GitHub: Planned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9C49D-01D1-4CE4-BA0B-863E2684EB0B}"/>
              </a:ext>
            </a:extLst>
          </p:cNvPr>
          <p:cNvSpPr txBox="1"/>
          <p:nvPr/>
        </p:nvSpPr>
        <p:spPr>
          <a:xfrm>
            <a:off x="1240970" y="347613"/>
            <a:ext cx="9005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ABFFFB-383C-49FF-80C3-BB74E2C0BB00}"/>
              </a:ext>
            </a:extLst>
          </p:cNvPr>
          <p:cNvCxnSpPr>
            <a:cxnSpLocks/>
          </p:cNvCxnSpPr>
          <p:nvPr/>
        </p:nvCxnSpPr>
        <p:spPr>
          <a:xfrm flipV="1">
            <a:off x="1368139" y="993944"/>
            <a:ext cx="7521533" cy="190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</p:nvPr>
        </p:nvGraphicFramePr>
        <p:xfrm>
          <a:off x="738924" y="1506036"/>
          <a:ext cx="7201428" cy="4654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2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98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041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discussion and finalization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 and objectives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021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chatbot study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Requirement analysis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workflow and architecture planning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127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RCPIT information collection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Knowledge Base preparation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College, department, faculty, admission, fees, facilities and placement information organization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021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webpage development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Frontend-backend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11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074679" y="2186988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Completed :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06014" y="2284823"/>
            <a:ext cx="1202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1-4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56451" y="3092457"/>
            <a:ext cx="36747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Base Integration +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Fronted Prototype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56451" y="3890204"/>
            <a:ext cx="2472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 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 30%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1077" y="2648653"/>
            <a:ext cx="1644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:</a:t>
            </a:r>
            <a:endParaRPr lang="en-IN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2F81B-DEAF-4FBF-B59D-FDEBACDD1FB4}"/>
              </a:ext>
            </a:extLst>
          </p:cNvPr>
          <p:cNvSpPr txBox="1"/>
          <p:nvPr/>
        </p:nvSpPr>
        <p:spPr>
          <a:xfrm>
            <a:off x="1176950" y="316469"/>
            <a:ext cx="5263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Chart: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32351B-6056-4388-8290-AFBFA88CD19B}"/>
              </a:ext>
            </a:extLst>
          </p:cNvPr>
          <p:cNvCxnSpPr>
            <a:cxnSpLocks/>
          </p:cNvCxnSpPr>
          <p:nvPr/>
        </p:nvCxnSpPr>
        <p:spPr>
          <a:xfrm flipV="1">
            <a:off x="1294660" y="927723"/>
            <a:ext cx="4758045" cy="1904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0"/>
            <a:ext cx="11449050" cy="27622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6538912"/>
            <a:ext cx="11449050" cy="276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81100" cy="1304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3588" y="329296"/>
            <a:ext cx="304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Fronted view: 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139" y="1182975"/>
            <a:ext cx="7622547" cy="507971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CB55E3-BA48-475B-BC53-28C8BBC12EE6}"/>
              </a:ext>
            </a:extLst>
          </p:cNvPr>
          <p:cNvCxnSpPr>
            <a:cxnSpLocks/>
          </p:cNvCxnSpPr>
          <p:nvPr/>
        </p:nvCxnSpPr>
        <p:spPr>
          <a:xfrm flipV="1">
            <a:off x="1531425" y="975627"/>
            <a:ext cx="2665018" cy="1194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44450"/>
            <a:ext cx="11449050" cy="27622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181100" cy="13049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13</a:t>
            </a:fld>
            <a:endParaRPr lang="en-US"/>
          </a:p>
        </p:txBody>
      </p:sp>
      <p:sp>
        <p:nvSpPr>
          <p:cNvPr id="6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58008" y="306044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399592" y="235131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1205411" y="1744930"/>
            <a:ext cx="60975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AI/NLP-based question understanding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Knowledge Base search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Database integration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Voice-based queries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Google Maps-based navigation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. Admin dashboard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 Live notices and updates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 CAP/admission information updates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 Multilingual support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Mobile-friendly interface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Improved answer accuracy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F687EA-4356-4904-9DCA-C10BFCC9E5B0}"/>
              </a:ext>
            </a:extLst>
          </p:cNvPr>
          <p:cNvCxnSpPr>
            <a:cxnSpLocks/>
          </p:cNvCxnSpPr>
          <p:nvPr/>
        </p:nvCxnSpPr>
        <p:spPr>
          <a:xfrm>
            <a:off x="1368139" y="1012986"/>
            <a:ext cx="277931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318A7AF-C329-4A9F-9388-DE340DCB1D56}"/>
              </a:ext>
            </a:extLst>
          </p:cNvPr>
          <p:cNvSpPr txBox="1"/>
          <p:nvPr/>
        </p:nvSpPr>
        <p:spPr>
          <a:xfrm>
            <a:off x="1311728" y="365125"/>
            <a:ext cx="3518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292" y="511508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problem of finding RCPIT information quickly was identified.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RCPIT Knowledge Base has been prepared.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Flask backend has been developed.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chatbot webpage has been created.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and backend communication has been successfully tested.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has reached approximately 30% progress.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major step is to connect the Knowledge Base with the backend and implement question searching.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14</a:t>
            </a:fld>
            <a:endParaRPr lang="en-US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>
              <a:fillRect/>
            </a:stretch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AE3775-C081-4AA2-A865-C58388B9306F}"/>
              </a:ext>
            </a:extLst>
          </p:cNvPr>
          <p:cNvSpPr txBox="1"/>
          <p:nvPr/>
        </p:nvSpPr>
        <p:spPr>
          <a:xfrm>
            <a:off x="1176950" y="354712"/>
            <a:ext cx="808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b="1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B1CE55-0B88-4EA6-A280-2060F533B436}"/>
              </a:ext>
            </a:extLst>
          </p:cNvPr>
          <p:cNvCxnSpPr>
            <a:cxnSpLocks/>
          </p:cNvCxnSpPr>
          <p:nvPr/>
        </p:nvCxnSpPr>
        <p:spPr>
          <a:xfrm flipV="1">
            <a:off x="1368139" y="1001043"/>
            <a:ext cx="2215982" cy="1194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>
          <a:xfrm>
            <a:off x="1328737" y="8911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44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-1" fmla="*/ 0 w 9996055"/>
              <a:gd name="connsiteY0-2" fmla="*/ 238991 h 238991"/>
              <a:gd name="connsiteX1-3" fmla="*/ 527339 w 9996055"/>
              <a:gd name="connsiteY1-4" fmla="*/ 0 h 238991"/>
              <a:gd name="connsiteX2-5" fmla="*/ 9996055 w 9996055"/>
              <a:gd name="connsiteY2-6" fmla="*/ 0 h 238991"/>
              <a:gd name="connsiteX3-7" fmla="*/ 9936307 w 9996055"/>
              <a:gd name="connsiteY3-8" fmla="*/ 238991 h 238991"/>
              <a:gd name="connsiteX4-9" fmla="*/ 0 w 9996055"/>
              <a:gd name="connsiteY4-10" fmla="*/ 238991 h 238991"/>
              <a:gd name="connsiteX0-11" fmla="*/ 0 w 9996055"/>
              <a:gd name="connsiteY0-12" fmla="*/ 238991 h 238991"/>
              <a:gd name="connsiteX1-13" fmla="*/ 527339 w 9996055"/>
              <a:gd name="connsiteY1-14" fmla="*/ 0 h 238991"/>
              <a:gd name="connsiteX2-15" fmla="*/ 9996055 w 9996055"/>
              <a:gd name="connsiteY2-16" fmla="*/ 0 h 238991"/>
              <a:gd name="connsiteX3-17" fmla="*/ 9541453 w 9996055"/>
              <a:gd name="connsiteY3-18" fmla="*/ 238991 h 238991"/>
              <a:gd name="connsiteX4-19" fmla="*/ 0 w 9996055"/>
              <a:gd name="connsiteY4-20" fmla="*/ 238991 h 238991"/>
              <a:gd name="connsiteX0-21" fmla="*/ 12988 w 10009043"/>
              <a:gd name="connsiteY0-22" fmla="*/ 238991 h 238991"/>
              <a:gd name="connsiteX1-23" fmla="*/ 0 w 10009043"/>
              <a:gd name="connsiteY1-24" fmla="*/ 10391 h 238991"/>
              <a:gd name="connsiteX2-25" fmla="*/ 10009043 w 10009043"/>
              <a:gd name="connsiteY2-26" fmla="*/ 0 h 238991"/>
              <a:gd name="connsiteX3-27" fmla="*/ 9554441 w 10009043"/>
              <a:gd name="connsiteY3-28" fmla="*/ 238991 h 238991"/>
              <a:gd name="connsiteX4-29" fmla="*/ 12988 w 10009043"/>
              <a:gd name="connsiteY4-30" fmla="*/ 238991 h 238991"/>
              <a:gd name="connsiteX0-31" fmla="*/ 519208 w 10009043"/>
              <a:gd name="connsiteY0-32" fmla="*/ 259772 h 259772"/>
              <a:gd name="connsiteX1-33" fmla="*/ 0 w 10009043"/>
              <a:gd name="connsiteY1-34" fmla="*/ 10391 h 259772"/>
              <a:gd name="connsiteX2-35" fmla="*/ 10009043 w 10009043"/>
              <a:gd name="connsiteY2-36" fmla="*/ 0 h 259772"/>
              <a:gd name="connsiteX3-37" fmla="*/ 9554441 w 10009043"/>
              <a:gd name="connsiteY3-38" fmla="*/ 238991 h 259772"/>
              <a:gd name="connsiteX4-39" fmla="*/ 519208 w 10009043"/>
              <a:gd name="connsiteY4-40" fmla="*/ 259772 h 2597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-20638"/>
            <a:ext cx="11449050" cy="27622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1100" cy="130492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53447" y="168135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and technical documentation sources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746" y="2261156"/>
            <a:ext cx="6097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C. Patel Institute of Technology,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Shirpur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India Council for Technical Education (AICTE)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solidFill>
                  <a:srgbClr val="0D25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Maharashtra State CET Cell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Babasaheb Ambedkar Technological University (DBATU)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15505" y="293721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https://cetcell.mahacet.org/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15505" y="3742342"/>
            <a:ext cx="6755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https://docs.python.org/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15505" y="3230081"/>
            <a:ext cx="7243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https://dbatu.ac.in/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4248" y="2633384"/>
            <a:ext cx="7329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https://www.aicte-india.org/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4248" y="2340522"/>
            <a:ext cx="7491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https://www.rcpit.ac.in/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DFB41B-D363-42CC-AC50-D4B08F1341E5}"/>
              </a:ext>
            </a:extLst>
          </p:cNvPr>
          <p:cNvCxnSpPr>
            <a:cxnSpLocks/>
          </p:cNvCxnSpPr>
          <p:nvPr/>
        </p:nvCxnSpPr>
        <p:spPr>
          <a:xfrm>
            <a:off x="1337955" y="1032927"/>
            <a:ext cx="238495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1052</Words>
  <Application>Microsoft Office PowerPoint</Application>
  <PresentationFormat>Widescreen</PresentationFormat>
  <Paragraphs>255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Ajile</vt:lpstr>
      <vt:lpstr>Aptos</vt:lpstr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  Semester Project – I      “RCPIT College Query Chatbot”  By Soham Kailas Borole (PRN: 25110815 &amp; Roll No:14)                 Shubham Rajendra Kumavat (PRN : 25110825 &amp; Roll No. : 22)       Jidnyesha Bharat Patil (PRN : 251108041 &amp; Roll No: 38)  Sneha Manoj Barade (PRN: 25110857 &amp; Roll No: 50)  Under the Guidance of  Prof. Prathmesh Mahajan</vt:lpstr>
      <vt:lpstr>Outline: </vt:lpstr>
      <vt:lpstr>PowerPoint Presentation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 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ADMIN</cp:lastModifiedBy>
  <cp:revision>54</cp:revision>
  <dcterms:created xsi:type="dcterms:W3CDTF">2023-11-04T09:41:00Z</dcterms:created>
  <dcterms:modified xsi:type="dcterms:W3CDTF">2026-09-11T18:53:37Z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177A760EE3894D98A5D1EB4F783DB9CA_13</vt:lpwstr>
  </property>
  <property fmtid="{D5CDD505-2E9C-101B-9397-08002B2CF9AE}" pid="3" name="KSOProductBuildVer">
    <vt:lpwstr>1033-12.1.0.28485</vt:lpwstr>
  </property>
</Properties>
</file>